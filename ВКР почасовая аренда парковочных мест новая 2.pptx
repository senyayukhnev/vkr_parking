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20" y="812719"/>
            <a:ext cx="10566533" cy="467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20" y="1584881"/>
            <a:ext cx="10566480" cy="446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20" y="812719"/>
            <a:ext cx="10566533" cy="467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20" y="1584881"/>
            <a:ext cx="10566480" cy="446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20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Московский авиационный институт (национальный исследовательский университет)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20" y="1094586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Институт №8 · Кафедра 806 · 02.03.02 «Фундаментальная информатика и информационные технологии»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720" y="2130389"/>
            <a:ext cx="1088352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 БАКАЛАВРА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720" y="2582443"/>
            <a:ext cx="10883529" cy="186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Информационная система почасовой аренды парковочных мест в жилых комплексах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12720" y="5237537"/>
            <a:ext cx="10566533" cy="0"/>
          </a:xfrm>
          <a:prstGeom prst="line">
            <a:avLst/>
          </a:prstGeom>
          <a:noFill/>
          <a:ln w="12700">
            <a:solidFill>
              <a:srgbClr val="3A4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20" y="5496749"/>
            <a:ext cx="3239534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20" y="5760863"/>
            <a:ext cx="3754741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Юхнев А.Д., группа М8О-412Б-23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67461" y="5496749"/>
            <a:ext cx="4126173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7461" y="5760863"/>
            <a:ext cx="4807192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Лукин В.Н., к.ф.-м.н., доцент кафедры 806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20638" y="5760863"/>
            <a:ext cx="1309415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20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Актуальность и цель работы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95" y="1588037"/>
            <a:ext cx="3380389" cy="2326472"/>
          </a:xfrm>
          <a:prstGeom prst="roundRect">
            <a:avLst>
              <a:gd name="adj" fmla="val 3139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486" y="1844628"/>
            <a:ext cx="2953224" cy="69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0,4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72486" y="2591319"/>
            <a:ext cx="2953224" cy="109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машино-места на квартиру в среднем в массовых новостройках Москвы — мест мало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92" y="1588037"/>
            <a:ext cx="3380389" cy="2326472"/>
          </a:xfrm>
          <a:prstGeom prst="roundRect">
            <a:avLst>
              <a:gd name="adj" fmla="val 3139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382" y="1844628"/>
            <a:ext cx="3120623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места простаивают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2382" y="2225491"/>
            <a:ext cx="2953224" cy="82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Купить место нельзя, а паркинг при этом занят лишь частично: места берут как инвестицию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2382" y="3101613"/>
            <a:ext cx="2953224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наблюдение автора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689" y="1588037"/>
            <a:ext cx="3380389" cy="2326472"/>
          </a:xfrm>
          <a:prstGeom prst="roundRect">
            <a:avLst>
              <a:gd name="adj" fmla="val 3139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279" y="1844628"/>
            <a:ext cx="2953224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инструмента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279" y="2225491"/>
            <a:ext cx="2953224" cy="109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Краткосрочная аренда — через чаты ЖК: без расписания, гарантии брони и онлайн-оплаты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20" y="4222465"/>
            <a:ext cx="10566533" cy="1398189"/>
          </a:xfrm>
          <a:prstGeom prst="roundRect">
            <a:avLst>
              <a:gd name="adj" fmla="val 5450"/>
            </a:avLst>
          </a:prstGeom>
          <a:solidFill>
            <a:srgbClr val="162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501" y="4476435"/>
            <a:ext cx="10255680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7501" y="4783751"/>
            <a:ext cx="10255680" cy="608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информационную систему почасовой аренды машино-мест в ЖК: автоматическое назначение мест без пересечений, онлайн-оплата, доступ в паркинг через СКУД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720" y="6238278"/>
            <a:ext cx="4557426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«Метриум», май 2026 (РБК Недвижимость)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21493" y="6238278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Задачи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95" y="1588038"/>
            <a:ext cx="3380389" cy="2262889"/>
          </a:xfrm>
          <a:prstGeom prst="roundRect">
            <a:avLst>
              <a:gd name="adj" fmla="val 3227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034" y="1819177"/>
            <a:ext cx="3005654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7034" y="2286538"/>
            <a:ext cx="3005654" cy="82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предметную область и существующие решения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92" y="1588038"/>
            <a:ext cx="3380389" cy="2262889"/>
          </a:xfrm>
          <a:prstGeom prst="roundRect">
            <a:avLst>
              <a:gd name="adj" fmla="val 3227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931" y="1819177"/>
            <a:ext cx="3005654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36931" y="2286538"/>
            <a:ext cx="3005654" cy="55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модель данных и архитектуру системы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9" y="1588038"/>
            <a:ext cx="3380389" cy="2262889"/>
          </a:xfrm>
          <a:prstGeom prst="roundRect">
            <a:avLst>
              <a:gd name="adj" fmla="val 3227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828" y="1819177"/>
            <a:ext cx="3005654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6828" y="2286538"/>
            <a:ext cx="3005654" cy="135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алгоритм автоматического назначения мест без пересечений интервалов при конкурентных запросах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895" y="4060433"/>
            <a:ext cx="3380389" cy="1729590"/>
          </a:xfrm>
          <a:prstGeom prst="roundRect">
            <a:avLst>
              <a:gd name="adj" fmla="val 4222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034" y="4291574"/>
            <a:ext cx="3005654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7034" y="4758934"/>
            <a:ext cx="3005654" cy="82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сервер и клиент для ролей владельца, арендатора и администратора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05792" y="4060433"/>
            <a:ext cx="3380389" cy="1729590"/>
          </a:xfrm>
          <a:prstGeom prst="roundRect">
            <a:avLst>
              <a:gd name="adj" fmla="val 4222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931" y="4291574"/>
            <a:ext cx="3005654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36931" y="4758934"/>
            <a:ext cx="3005654" cy="55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интеграцию со СКУД через заглушку API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95689" y="4060433"/>
            <a:ext cx="3380389" cy="1729590"/>
          </a:xfrm>
          <a:prstGeom prst="roundRect">
            <a:avLst>
              <a:gd name="adj" fmla="val 4222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6828" y="4291574"/>
            <a:ext cx="3005654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6828" y="4758934"/>
            <a:ext cx="3005654" cy="82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Смоделировать поток заявок и сравнить алгоритм с базовыми стратегиями назначения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720" y="6238278"/>
            <a:ext cx="3003395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Юхнев А.Д. · ВКР бакалавра · МАИ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21493" y="6238278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Объект и предмет исследования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95" y="1689571"/>
            <a:ext cx="5181090" cy="4149272"/>
          </a:xfrm>
          <a:prstGeom prst="roundRect">
            <a:avLst>
              <a:gd name="adj" fmla="val 1760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4110" y="2047785"/>
            <a:ext cx="459859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74110" y="2449029"/>
            <a:ext cx="4598599" cy="111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Процессы краткосрочной аренды машино-мест в паркингах жилых комплексов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03316" y="1686396"/>
            <a:ext cx="5175936" cy="4155622"/>
          </a:xfrm>
          <a:prstGeom prst="roundRect">
            <a:avLst>
              <a:gd name="adj" fmla="val 1834"/>
            </a:avLst>
          </a:prstGeom>
          <a:solidFill>
            <a:srgbClr val="16243A"/>
          </a:solidFill>
          <a:ln/>
        </p:spPr>
      </p:sp>
      <p:sp>
        <p:nvSpPr>
          <p:cNvPr id="7" name="Text 5"/>
          <p:cNvSpPr/>
          <p:nvPr/>
        </p:nvSpPr>
        <p:spPr>
          <a:xfrm>
            <a:off x="6558910" y="2041989"/>
            <a:ext cx="45986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58910" y="2443231"/>
            <a:ext cx="4598693" cy="1841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Методы автоматического распределения заявок на аренду по машино-местам без пересечений интервалов при конкурентном доступе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720" y="6238280"/>
            <a:ext cx="3003395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Юхнев А.Д. · ВКР бакалавра · МАИ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21493" y="6238280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Конкурентный анализ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13" y="1494833"/>
          <a:ext cx="10554940" cy="2738049"/>
        </p:xfrm>
        <a:graphic>
          <a:graphicData uri="http://schemas.openxmlformats.org/drawingml/2006/table">
            <a:tbl>
              <a:tblPr/>
              <a:tblGrid>
                <a:gridCol w="3799778"/>
                <a:gridCol w="1688790"/>
                <a:gridCol w="1688790"/>
                <a:gridCol w="1688790"/>
                <a:gridCol w="1688790"/>
              </a:tblGrid>
              <a:tr h="58927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Решение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Почасово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Места жильцов ЖК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Онлайн-оплата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Въезд через приложение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3581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Циан, Авито — объявления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Чаты ЖК — договорённость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Паркли — коммерческие паркинги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GetPark — паркшеринг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«Парковки Москвы» — городские парковки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Разрабатываемая система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да, СКУД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5420" y="4436039"/>
            <a:ext cx="0" cy="513011"/>
          </a:xfrm>
          <a:prstGeom prst="line">
            <a:avLst/>
          </a:prstGeom>
          <a:noFill/>
          <a:ln w="25400">
            <a:solidFill>
              <a:srgbClr val="2F62A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3707" y="4461439"/>
            <a:ext cx="10676513" cy="487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Ближайший аналог — GetPark: 17 локаций, в основном коммерческие парковки, места в ЖК — единичные (проверка автора, октябрь 2026). Акцент работы — автоматическое назначение мест без пересечений и доступ через СКУД ЖК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720" y="6238280"/>
            <a:ext cx="3902793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открытым данным сервисов, октябрь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21493" y="6238280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Как работает система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95" y="2035110"/>
            <a:ext cx="2406629" cy="1200094"/>
          </a:xfrm>
          <a:prstGeom prst="roundRect">
            <a:avLst>
              <a:gd name="adj" fmla="val 6085"/>
            </a:avLst>
          </a:prstGeom>
          <a:solidFill>
            <a:srgbClr val="FDFCFA"/>
          </a:solidFill>
          <a:ln w="6350">
            <a:solidFill>
              <a:srgbClr val="CBD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313" y="2215530"/>
            <a:ext cx="2107167" cy="28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96313" y="2525291"/>
            <a:ext cx="2107167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публикует место и расписание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895" y="3876659"/>
            <a:ext cx="2406629" cy="1200094"/>
          </a:xfrm>
          <a:prstGeom prst="roundRect">
            <a:avLst>
              <a:gd name="adj" fmla="val 6085"/>
            </a:avLst>
          </a:prstGeom>
          <a:solidFill>
            <a:srgbClr val="FDFCFA"/>
          </a:solidFill>
          <a:ln w="6350">
            <a:solidFill>
              <a:srgbClr val="CBD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313" y="4057076"/>
            <a:ext cx="2107167" cy="28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Арендатор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6313" y="4366840"/>
            <a:ext cx="2107167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оставляет заявку на интервал и платит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25959" y="2095429"/>
            <a:ext cx="2539964" cy="2793933"/>
          </a:xfrm>
          <a:prstGeom prst="roundRect">
            <a:avLst>
              <a:gd name="adj" fmla="val 3000"/>
            </a:avLst>
          </a:prstGeom>
          <a:solidFill>
            <a:srgbClr val="16243A"/>
          </a:solidFill>
          <a:ln/>
        </p:spPr>
      </p:sp>
      <p:sp>
        <p:nvSpPr>
          <p:cNvPr id="10" name="Text 8"/>
          <p:cNvSpPr/>
          <p:nvPr/>
        </p:nvSpPr>
        <p:spPr>
          <a:xfrm>
            <a:off x="5079928" y="2349398"/>
            <a:ext cx="2092986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Платформа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77210" y="2755621"/>
            <a:ext cx="1988084" cy="1891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мест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места без пересечений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онлайн-оплата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 платформы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в СКУД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72533" y="2038285"/>
            <a:ext cx="2400279" cy="1193744"/>
          </a:xfrm>
          <a:prstGeom prst="roundRect">
            <a:avLst>
              <a:gd name="adj" fmla="val 5851"/>
            </a:avLst>
          </a:prstGeom>
          <a:solidFill>
            <a:srgbClr val="FDFCFA"/>
          </a:solidFill>
          <a:ln w="12700">
            <a:solidFill>
              <a:srgbClr val="2F62A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55573" y="2221325"/>
            <a:ext cx="2095225" cy="28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СКУД ЖК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55573" y="2531089"/>
            <a:ext cx="209522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заменён заглушкой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9358" y="3876659"/>
            <a:ext cx="2406629" cy="1200094"/>
          </a:xfrm>
          <a:prstGeom prst="roundRect">
            <a:avLst>
              <a:gd name="adj" fmla="val 6085"/>
            </a:avLst>
          </a:prstGeom>
          <a:solidFill>
            <a:srgbClr val="FDFCFA"/>
          </a:solidFill>
          <a:ln w="6350">
            <a:solidFill>
              <a:srgbClr val="CB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9776" y="4057076"/>
            <a:ext cx="2107167" cy="28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Ворота паркинга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9776" y="4366840"/>
            <a:ext cx="2107167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открываются по запросу с телефона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13166" y="5273672"/>
            <a:ext cx="4565640" cy="603212"/>
          </a:xfrm>
          <a:prstGeom prst="roundRect">
            <a:avLst>
              <a:gd name="adj" fmla="val 12106"/>
            </a:avLst>
          </a:prstGeom>
          <a:solidFill>
            <a:srgbClr val="FDFCFA"/>
          </a:solidFill>
          <a:ln w="6350">
            <a:solidFill>
              <a:srgbClr val="CBD0D6"/>
            </a:solidFill>
            <a:prstDash val="solid"/>
          </a:ln>
        </p:spPr>
        <p:txBody>
          <a:bodyPr wrap="square" lIns="122079" tIns="0" rIns="122079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r>
              <a:rPr lang="en-US" sz="14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модерация и контроль</a:t>
            </a:r>
            <a:endParaRPr lang="en-US" sz="1400" dirty="0"/>
          </a:p>
        </p:txBody>
      </p:sp>
      <p:pic>
        <p:nvPicPr>
          <p:cNvPr id="19" name="Image 0" descr="connector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3174978" y="2584438"/>
            <a:ext cx="1701793" cy="101533"/>
          </a:xfrm>
          <a:prstGeom prst="rect">
            <a:avLst/>
          </a:prstGeom>
        </p:spPr>
      </p:pic>
      <p:pic>
        <p:nvPicPr>
          <p:cNvPr id="20" name="Image 1" descr="connector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3174978" y="4425894"/>
            <a:ext cx="1701793" cy="101533"/>
          </a:xfrm>
          <a:prstGeom prst="rect">
            <a:avLst/>
          </a:prstGeom>
        </p:spPr>
      </p:pic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7315111" y="2584438"/>
            <a:ext cx="1701793" cy="101533"/>
          </a:xfrm>
          <a:prstGeom prst="rect">
            <a:avLst/>
          </a:prstGeom>
        </p:spPr>
      </p:pic>
      <p:pic>
        <p:nvPicPr>
          <p:cNvPr id="22" name="Image 3" descr="connector">    </p:cNvPr>
          <p:cNvPicPr>
            <a:picLocks noChangeAspect="1"/>
          </p:cNvPicPr>
          <p:nvPr/>
        </p:nvPicPr>
        <p:blipFill>
          <a:blip r:embed="rId4"/>
          <a:srcRect l="0" r="0" t="-29" b="-29"/>
          <a:stretch/>
        </p:blipFill>
        <p:spPr>
          <a:xfrm>
            <a:off x="10121816" y="3187660"/>
            <a:ext cx="101533" cy="736547"/>
          </a:xfrm>
          <a:prstGeom prst="rect">
            <a:avLst/>
          </a:prstGeom>
        </p:spPr>
      </p:pic>
      <p:pic>
        <p:nvPicPr>
          <p:cNvPr id="23" name="Image 4" descr="connector">    </p:cNvPr>
          <p:cNvPicPr>
            <a:picLocks noChangeAspect="1"/>
          </p:cNvPicPr>
          <p:nvPr/>
        </p:nvPicPr>
        <p:blipFill>
          <a:blip r:embed="rId5"/>
          <a:srcRect l="0" r="0" t="-31" b="-31"/>
          <a:stretch/>
        </p:blipFill>
        <p:spPr>
          <a:xfrm>
            <a:off x="6045174" y="4838641"/>
            <a:ext cx="101533" cy="48257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38431" y="2298675"/>
            <a:ext cx="157479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и график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238431" y="4140135"/>
            <a:ext cx="157479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и оплата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378655" y="2298675"/>
            <a:ext cx="157479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доступа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299612" y="3447969"/>
            <a:ext cx="1066768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720" y="6238280"/>
            <a:ext cx="510826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Пунктир — внешняя система, в работе заменена заглушкой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921493" y="6238280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Стек технологий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95" y="1588036"/>
            <a:ext cx="2479994" cy="2449652"/>
          </a:xfrm>
          <a:prstGeom prst="roundRect">
            <a:avLst>
              <a:gd name="adj" fmla="val 2981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034" y="1819179"/>
            <a:ext cx="2078246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7034" y="2134102"/>
            <a:ext cx="2078246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FastAPI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034" y="2509893"/>
            <a:ext cx="2078246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асинхронный API, OpenAPI-документация из коробки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5396" y="1588036"/>
            <a:ext cx="2480085" cy="2449652"/>
          </a:xfrm>
          <a:prstGeom prst="roundRect">
            <a:avLst>
              <a:gd name="adj" fmla="val 2981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6536" y="1819179"/>
            <a:ext cx="207834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36536" y="2134102"/>
            <a:ext cx="2078340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36536" y="2509893"/>
            <a:ext cx="2078340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транзакции, блокировки, диапазонные типы для интервалов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4989" y="1588036"/>
            <a:ext cx="2479994" cy="2449652"/>
          </a:xfrm>
          <a:prstGeom prst="roundRect">
            <a:avLst>
              <a:gd name="adj" fmla="val 2981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128" y="1819179"/>
            <a:ext cx="2078246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ДАННЫМ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26128" y="2134102"/>
            <a:ext cx="2078246" cy="57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SQLAlchemy, Alembic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26128" y="2784153"/>
            <a:ext cx="207824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и версионируемые миграции схемы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87665" y="1591211"/>
            <a:ext cx="2485238" cy="2443302"/>
          </a:xfrm>
          <a:prstGeom prst="roundRect">
            <a:avLst>
              <a:gd name="adj" fmla="val 2859"/>
            </a:avLst>
          </a:prstGeom>
          <a:solidFill>
            <a:srgbClr val="FDFCFA"/>
          </a:solidFill>
          <a:ln w="12700">
            <a:solidFill>
              <a:srgbClr val="2F62A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21426" y="1824974"/>
            <a:ext cx="2078246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21426" y="2139900"/>
            <a:ext cx="2078246" cy="112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/ Expo или Telegram Mini App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21426" y="3338463"/>
            <a:ext cx="207824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— на этапе технического документа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720" y="4345645"/>
            <a:ext cx="10566533" cy="672964"/>
          </a:xfrm>
          <a:prstGeom prst="roundRect">
            <a:avLst>
              <a:gd name="adj" fmla="val 11323"/>
            </a:avLst>
          </a:prstGeom>
          <a:solidFill>
            <a:srgbClr val="162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689" y="4575432"/>
            <a:ext cx="1308793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5482" y="4548805"/>
            <a:ext cx="4991202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СКУД жилого комплекса — через заглушку 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720" y="6238280"/>
            <a:ext cx="3130126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Пунктир — решение ещё не принято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21493" y="6238280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Практическая значимость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95" y="1588036"/>
            <a:ext cx="3380389" cy="2328826"/>
          </a:xfrm>
          <a:prstGeom prst="roundRect">
            <a:avLst>
              <a:gd name="adj" fmla="val 3136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pic>
        <p:nvPicPr>
          <p:cNvPr id="4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846" y="1869988"/>
            <a:ext cx="406315" cy="4063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846" y="2403289"/>
            <a:ext cx="2900981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Владельцам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846" y="2834965"/>
            <a:ext cx="2900981" cy="55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с машино-места, которое иначе простаивает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05792" y="1588036"/>
            <a:ext cx="3380389" cy="2328826"/>
          </a:xfrm>
          <a:prstGeom prst="roundRect">
            <a:avLst>
              <a:gd name="adj" fmla="val 3136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pic>
        <p:nvPicPr>
          <p:cNvPr id="8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87743" y="1869988"/>
            <a:ext cx="406315" cy="4063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87743" y="2403289"/>
            <a:ext cx="2900981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Арендаторам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687743" y="2834965"/>
            <a:ext cx="2900981" cy="82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рядом с домом на нужные часы с гарантией брони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995689" y="1588036"/>
            <a:ext cx="3380389" cy="2328826"/>
          </a:xfrm>
          <a:prstGeom prst="roundRect">
            <a:avLst>
              <a:gd name="adj" fmla="val 3136"/>
            </a:avLst>
          </a:prstGeom>
          <a:solidFill>
            <a:srgbClr val="FDFCFA"/>
          </a:solidFill>
          <a:ln w="6350">
            <a:solidFill>
              <a:srgbClr val="DCD9D0"/>
            </a:solidFill>
            <a:prstDash val="solid"/>
          </a:ln>
        </p:spPr>
      </p:sp>
      <p:pic>
        <p:nvPicPr>
          <p:cNvPr id="12" name="Image 2" descr="Hom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77640" y="1869988"/>
            <a:ext cx="406315" cy="4063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7640" y="2403289"/>
            <a:ext cx="2900981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Жилому комплексу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8277640" y="2834965"/>
            <a:ext cx="2900981" cy="55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Контролируемый доступ в паркинг через СКУД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5420" y="4224818"/>
            <a:ext cx="0" cy="335123"/>
          </a:xfrm>
          <a:prstGeom prst="line">
            <a:avLst/>
          </a:prstGeom>
          <a:noFill/>
          <a:ln w="25400">
            <a:solidFill>
              <a:srgbClr val="2F62A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13707" y="4250218"/>
            <a:ext cx="10676513" cy="309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защиты систему планируется развивать как реальный продукт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2720" y="6238277"/>
            <a:ext cx="3003395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Юхнев А.Д. · ВКР бакалавра · МАИ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921493" y="6238277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Ожидаемые результаты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20" y="1537227"/>
            <a:ext cx="10566533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720" y="1692194"/>
            <a:ext cx="507927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73004" y="1727696"/>
            <a:ext cx="8391092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проект системы:</a:t>
            </a:r>
            <a:r>
              <a:rPr lang="en-US" sz="16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модель данных, архитектура, диаграммы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720" y="2203214"/>
            <a:ext cx="10566533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20" y="2358182"/>
            <a:ext cx="507927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73004" y="2393690"/>
            <a:ext cx="9906250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назначения мест</a:t>
            </a:r>
            <a:r>
              <a:rPr lang="en-US" sz="16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без пересечений интервалов, корректный при конкурентных запросах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20" y="2869208"/>
            <a:ext cx="10566533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20" y="3024175"/>
            <a:ext cx="507927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73004" y="3059677"/>
            <a:ext cx="9906250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системы:</a:t>
            </a:r>
            <a:r>
              <a:rPr lang="en-US" sz="16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сервер, клиент для трёх ролей, интеграция со СКУД через заглушку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720" y="3535195"/>
            <a:ext cx="10566533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720" y="3690162"/>
            <a:ext cx="507927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73004" y="3725670"/>
            <a:ext cx="8265014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симуляции:</a:t>
            </a:r>
            <a:r>
              <a:rPr lang="en-US" sz="16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сравнение алгоритма с базовыми стратегиями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20" y="4201189"/>
            <a:ext cx="10566533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20" y="4866625"/>
            <a:ext cx="10566533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20" y="4356156"/>
            <a:ext cx="507927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73004" y="4391658"/>
            <a:ext cx="5086413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</a:t>
            </a:r>
            <a:r>
              <a:rPr lang="en-US" sz="16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 ГОСТ 7.32-2017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720" y="6238280"/>
            <a:ext cx="3003395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Юхнев А.Д. · ВКР бакалавра · МАИ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21493" y="6238280"/>
            <a:ext cx="45757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4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Реализация и репозиторий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20" y="1588033"/>
            <a:ext cx="5630437" cy="0"/>
          </a:xfrm>
          <a:prstGeom prst="line">
            <a:avLst/>
          </a:prstGeom>
          <a:noFill/>
          <a:ln w="6350">
            <a:solidFill>
              <a:srgbClr val="CBD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720" y="1743001"/>
            <a:ext cx="132687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720" y="2037637"/>
            <a:ext cx="749680" cy="264114"/>
          </a:xfrm>
          <a:custGeom>
            <a:avLst/>
            <a:gdLst/>
            <a:ahLst/>
            <a:cxnLst/>
            <a:rect l="l" t="t" r="r" b="b"/>
            <a:pathLst>
              <a:path w="749680" h="264114">
                <a:moveTo>
                  <a:pt x="132057" y="0"/>
                </a:moveTo>
                <a:lnTo>
                  <a:pt x="617624" y="0"/>
                </a:lnTo>
                <a:arcTo hR="132057" wR="132057" stAng="16200000" swAng="5400000"/>
                <a:lnTo>
                  <a:pt x="749680" y="132057"/>
                </a:lnTo>
                <a:arcTo hR="132057" wR="132057" stAng="0" swAng="5400000"/>
                <a:lnTo>
                  <a:pt x="132057" y="264114"/>
                </a:lnTo>
                <a:arcTo hR="132057" wR="132057" stAng="5400000" swAng="5400000"/>
                <a:lnTo>
                  <a:pt x="0" y="132057"/>
                </a:lnTo>
                <a:arcTo hR="132057" wR="132057" stAng="10800000" swAng="5400000"/>
                <a:close/>
              </a:path>
            </a:pathLst>
          </a:custGeom>
          <a:solidFill>
            <a:srgbClr val="1624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39873" y="1755682"/>
            <a:ext cx="4020381" cy="55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документ</a:t>
            </a:r>
            <a:r>
              <a:rPr lang="en-US" sz="15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до одобрения руководителем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720" y="2457270"/>
            <a:ext cx="5630437" cy="0"/>
          </a:xfrm>
          <a:prstGeom prst="line">
            <a:avLst/>
          </a:prstGeom>
          <a:noFill/>
          <a:ln w="6350">
            <a:solidFill>
              <a:srgbClr val="CBD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20" y="2763317"/>
            <a:ext cx="157479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одобрения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39873" y="2612237"/>
            <a:ext cx="4020381" cy="55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Реализация:</a:t>
            </a:r>
            <a:r>
              <a:rPr lang="en-US" sz="1500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сервер, клиент, заглушка СКУД, симуляция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720" y="3301057"/>
            <a:ext cx="5630437" cy="0"/>
          </a:xfrm>
          <a:prstGeom prst="line">
            <a:avLst/>
          </a:prstGeom>
          <a:noFill/>
          <a:ln w="6350">
            <a:solidFill>
              <a:srgbClr val="CBD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720" y="3473779"/>
            <a:ext cx="157479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 2027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9873" y="3456025"/>
            <a:ext cx="4020381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Предзащита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20" y="3878194"/>
            <a:ext cx="5630437" cy="0"/>
          </a:xfrm>
          <a:prstGeom prst="line">
            <a:avLst/>
          </a:prstGeom>
          <a:noFill/>
          <a:ln w="6350">
            <a:solidFill>
              <a:srgbClr val="CBD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20" y="4454778"/>
            <a:ext cx="5630437" cy="0"/>
          </a:xfrm>
          <a:prstGeom prst="line">
            <a:avLst/>
          </a:prstGeom>
          <a:noFill/>
          <a:ln w="6350">
            <a:solidFill>
              <a:srgbClr val="CBD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20" y="4050916"/>
            <a:ext cx="1574797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6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9873" y="4033162"/>
            <a:ext cx="4020381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E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47937" y="1584858"/>
            <a:ext cx="4631316" cy="2873095"/>
          </a:xfrm>
          <a:prstGeom prst="roundRect">
            <a:avLst>
              <a:gd name="adj" fmla="val 2652"/>
            </a:avLst>
          </a:prstGeom>
          <a:solidFill>
            <a:srgbClr val="16243A"/>
          </a:solidFill>
          <a:ln/>
        </p:spPr>
      </p:sp>
      <p:pic>
        <p:nvPicPr>
          <p:cNvPr id="18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2718" y="1889640"/>
            <a:ext cx="355593" cy="3555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52718" y="2372221"/>
            <a:ext cx="414240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9DB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· «СФЕРА КОД»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52718" y="2730351"/>
            <a:ext cx="4142406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[ссылка на репозиторий]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52718" y="3131592"/>
            <a:ext cx="414240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README: описание, архитектура, стек, инструкция по запуску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2720" y="6238273"/>
            <a:ext cx="673033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Кода пока нет: реализация начнётся после одобрения технического документа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819759" y="6238273"/>
            <a:ext cx="559312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ВКР: почасовая аренда парковочных мест">
  <a:themeElements>
    <a:clrScheme name="ВКР: почасовая аренда парковочных мест">
      <a:dk1>
        <a:srgbClr val="16243A"/>
      </a:dk1>
      <a:lt1>
        <a:srgbClr val="F6F5F1"/>
      </a:lt1>
      <a:dk2>
        <a:srgbClr val="4E5868"/>
      </a:dk2>
      <a:lt2>
        <a:srgbClr val="E0E0DF"/>
      </a:lt2>
      <a:accent1>
        <a:srgbClr val="2F62A3"/>
      </a:accent1>
      <a:accent2>
        <a:srgbClr val="9DBFE6"/>
      </a:accent2>
      <a:accent3>
        <a:srgbClr val="3E4A5C"/>
      </a:accent3>
      <a:accent4>
        <a:srgbClr val="5F6670"/>
      </a:accent4>
      <a:accent5>
        <a:srgbClr val="C9D3E0"/>
      </a:accent5>
      <a:accent6>
        <a:srgbClr val="9AA0A6"/>
      </a:accent6>
      <a:hlink>
        <a:srgbClr val="0563C1"/>
      </a:hlink>
      <a:folHlink>
        <a:srgbClr val="954F72"/>
      </a:folHlink>
    </a:clrScheme>
    <a:fontScheme name="ВКР: почасовая аренда парковочных мест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ВКР: почасовая аренда парковочных мест</dc:title>
  <dc:subject/>
  <dc:creator/>
  <cp:lastModifiedBy/>
  <cp:revision>1</cp:revision>
  <dcterms:created xsi:type="dcterms:W3CDTF">2026-10-11T15:12:28Z</dcterms:created>
  <dcterms:modified xsi:type="dcterms:W3CDTF">2026-10-11T15:12:28Z</dcterms:modified>
</cp:coreProperties>
</file>